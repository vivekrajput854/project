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4" r:id="rId7"/>
    <p:sldId id="265" r:id="rId8"/>
    <p:sldId id="266" r:id="rId9"/>
    <p:sldId id="272" r:id="rId10"/>
    <p:sldId id="268" r:id="rId11"/>
    <p:sldId id="269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91B5-B9B2-B41C-8F38-E01F7E08E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E73D0-16AB-A410-85BA-8DDCC9012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C9AB2-5453-8AD7-DD99-13CCBCED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0D2C-89AE-4771-9F76-6C1A6F60B1C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AFD3E-8C4D-77FF-1A63-232C6A1A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667C5-AFA5-7CED-1CCF-D9C89344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C6E-BAD6-44D3-B092-B6E30A6EC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97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96A0-36DA-8F7A-38BE-C05E3013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99673-49C2-0BB6-7993-452B7A5A7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1A5DD-0CFB-7EE5-0136-4719EADF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0D2C-89AE-4771-9F76-6C1A6F60B1C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8F375-10E6-1582-B8B1-067E70C29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7C775-3E35-A338-9086-47CC9F6B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C6E-BAD6-44D3-B092-B6E30A6EC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996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4CFC-DB7E-0955-369B-0E0C90CE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C12BF-FD0D-0C88-34ED-65AAA44C1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0E08-E4B9-BD70-CAA3-3C39052D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0D2C-89AE-4771-9F76-6C1A6F60B1C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F4703-87ED-DAF1-3E78-47FB3C60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C5E9E-F99D-14D9-03BC-FB99794C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C6E-BAD6-44D3-B092-B6E30A6EC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297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89301-AE60-6474-0966-487B9B67B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8DDA7-6BA3-5499-502B-720C027DE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8F186-98C0-9FF8-E61D-95A091AD5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BDF56-9C4B-009C-E6A3-0A5E7D59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0D2C-89AE-4771-9F76-6C1A6F60B1C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686A2-D193-FF68-5A3B-8922C7666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5E348-1785-CA49-570B-2962B477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C6E-BAD6-44D3-B092-B6E30A6EC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49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7EE4-044E-3B85-C46B-73389043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55E22-D138-EC9F-34CF-68FD7D53B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A403B-F133-D0C6-AFE9-01B7A7827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CA7FCF-657E-AF57-8B70-FE4F8EB08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3230D-64E6-8ABC-D886-56A024F5B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B6816E-C6F2-B75A-7199-B7139C69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0D2C-89AE-4771-9F76-6C1A6F60B1C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AE1FA9-CAA4-51E8-6ADB-66428736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F070BC-CE93-8492-6C97-F2ED876A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C6E-BAD6-44D3-B092-B6E30A6EC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9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6EDA-C07C-9CC3-9431-1D0312F7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58E503-FED6-422C-27A5-EFC568DC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0D2C-89AE-4771-9F76-6C1A6F60B1C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1D9BC0-6E85-C3CB-F0ED-5F066764E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39405-66C8-AEC7-4450-A8A323095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C6E-BAD6-44D3-B092-B6E30A6EC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05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475CE2-DEB7-05C3-B2E6-5758EB74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0D2C-89AE-4771-9F76-6C1A6F60B1C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B7FA1-3CAF-9782-B9DA-C60ED446E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8F6A9-5B46-C16B-2A90-E411A036B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C6E-BAD6-44D3-B092-B6E30A6EC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18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4254-728E-1477-5E95-ECC949A6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4B83D-1881-7D6C-682D-1A1FAF18D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3E901-EE03-5131-4C26-74A43E3F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F8597-3D8F-E3C6-36DB-9A7BE50CE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0D2C-89AE-4771-9F76-6C1A6F60B1C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890CF-B6D2-9C80-B6EA-BBA031344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6F63B-BB19-A863-B483-206B5470A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C6E-BAD6-44D3-B092-B6E30A6EC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10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10CA-ADDC-950B-D2AF-A9EF89D3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FDE5C3-C9AC-4DDA-EF54-58FDD2115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E5C91-5095-5F19-1CE8-DC506BD73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30DC7-F36F-F065-C7FB-86DC5F46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0D2C-89AE-4771-9F76-6C1A6F60B1C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81D64-9207-7236-27B1-AF95B69D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A1DFF-5C1A-4EDB-5208-8102F756D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C6E-BAD6-44D3-B092-B6E30A6EC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339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CC6E7-C49F-D848-D6E1-246601BA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06DE2-CD16-A7BD-4DE6-D65C8256D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384F6-1B8E-3EA0-7F4F-839D127C0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0D2C-89AE-4771-9F76-6C1A6F60B1C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FEBFB-6DA7-A826-05A4-084CDE97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AB517-C878-ABC5-4D0C-9B58FA6C0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C6E-BAD6-44D3-B092-B6E30A6EC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54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120AF-4C4D-9C27-755D-531228D5F2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0AECC-B0BD-115F-5B63-5E74B4132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10096-0A37-A198-1337-98014BE6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0D2C-89AE-4771-9F76-6C1A6F60B1C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74FB8-E4C2-048B-D3C8-17DA6A6ED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C7A2D-F46B-A0E5-23D8-03B499285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C6E-BAD6-44D3-B092-B6E30A6EC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989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47190C-A95B-3963-CA5C-688791753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C6048-0D36-0AC8-4148-A055B49CC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0E6F1-68C3-703C-9B4D-507704021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80D2C-89AE-4771-9F76-6C1A6F60B1C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9B37C-00ED-6089-9C0B-DC88F3FDD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F92C6-CA0D-B5C5-41D2-603F08F8D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02C6E-BAD6-44D3-B092-B6E30A6EC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67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5F8C-8580-7EC4-990D-A4CA362B91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Performance Analytics of a ₹360M Auto Loan Securitization Pool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023A2-2F83-FBD2-CF3B-C946C7954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2452"/>
            <a:ext cx="9144000" cy="1375348"/>
          </a:xfrm>
        </p:spPr>
        <p:txBody>
          <a:bodyPr/>
          <a:lstStyle/>
          <a:p>
            <a:r>
              <a:rPr lang="en-US" dirty="0"/>
              <a:t>IFRS 9 ECL Modeling, Stress Testing, and Structural Risk Assessment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AD775A-7A0D-36D6-E78F-DDCD7D9B01E2}"/>
              </a:ext>
            </a:extLst>
          </p:cNvPr>
          <p:cNvSpPr txBox="1"/>
          <p:nvPr/>
        </p:nvSpPr>
        <p:spPr>
          <a:xfrm>
            <a:off x="1524000" y="5349875"/>
            <a:ext cx="5446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Presenter: Vivek Singh</a:t>
            </a:r>
          </a:p>
        </p:txBody>
      </p:sp>
    </p:spTree>
    <p:extLst>
      <p:ext uri="{BB962C8B-B14F-4D97-AF65-F5344CB8AC3E}">
        <p14:creationId xmlns:p14="http://schemas.microsoft.com/office/powerpoint/2010/main" val="2042535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ECE71-9AF7-8252-4593-92D12ED2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279D4-1E7C-8B71-CDE7-46FDBA06D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731"/>
            <a:ext cx="10515600" cy="4559144"/>
          </a:xfrm>
        </p:spPr>
        <p:txBody>
          <a:bodyPr/>
          <a:lstStyle/>
          <a:p>
            <a:r>
              <a:rPr lang="en-IN" b="1" dirty="0"/>
              <a:t>Total Portfolio Balance:</a:t>
            </a:r>
            <a:r>
              <a:rPr lang="en-IN" dirty="0"/>
              <a:t> ₹359,994,310</a:t>
            </a:r>
          </a:p>
          <a:p>
            <a:endParaRPr lang="en-IN" dirty="0"/>
          </a:p>
          <a:p>
            <a:r>
              <a:rPr lang="en-US" b="1" dirty="0"/>
              <a:t>Key Health Indicator:</a:t>
            </a:r>
            <a:r>
              <a:rPr lang="en-US" dirty="0"/>
              <a:t> 5.80% NPA Rate</a:t>
            </a:r>
          </a:p>
          <a:p>
            <a:endParaRPr lang="en-US" dirty="0"/>
          </a:p>
          <a:p>
            <a:r>
              <a:rPr lang="en-IN" b="1" dirty="0"/>
              <a:t>ECL Provision Required:</a:t>
            </a:r>
            <a:r>
              <a:rPr lang="en-IN" dirty="0"/>
              <a:t> ₹23,331,480</a:t>
            </a:r>
          </a:p>
          <a:p>
            <a:endParaRPr lang="en-IN" dirty="0"/>
          </a:p>
          <a:p>
            <a:r>
              <a:rPr lang="en-US" b="1" dirty="0"/>
              <a:t>Risk Status:</a:t>
            </a:r>
            <a:r>
              <a:rPr lang="en-US" dirty="0"/>
              <a:t> </a:t>
            </a:r>
            <a:r>
              <a:rPr lang="en-US" b="1" dirty="0"/>
              <a:t>Critical Breach.</a:t>
            </a:r>
            <a:r>
              <a:rPr lang="en-US" dirty="0"/>
              <a:t> Portfolio delinquency is nearly 3x the 2.0% trigger threshold.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79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A3345-E52D-2F4C-11D9-BD9609479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Integrity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60529-07D9-EC00-1159-E4307FD33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Cleaning Process:</a:t>
            </a:r>
            <a:r>
              <a:rPr lang="en-US" dirty="0"/>
              <a:t> Removed duplicate May 2024 records to prevent trend distortion.</a:t>
            </a:r>
          </a:p>
          <a:p>
            <a:endParaRPr lang="en-US" dirty="0"/>
          </a:p>
          <a:p>
            <a:r>
              <a:rPr lang="en-US" b="1" dirty="0"/>
              <a:t>Normalization:</a:t>
            </a:r>
            <a:r>
              <a:rPr lang="en-US" dirty="0"/>
              <a:t> Resolved "String-to-Numeric" conversion issues in Current Balance for accurate DAX measures.</a:t>
            </a:r>
          </a:p>
          <a:p>
            <a:endParaRPr lang="en-US" dirty="0"/>
          </a:p>
          <a:p>
            <a:r>
              <a:rPr lang="en-US" b="1" dirty="0"/>
              <a:t>Date Handling:</a:t>
            </a:r>
            <a:r>
              <a:rPr lang="en-US" dirty="0"/>
              <a:t> Converted Excel serial date formats into professional time-series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1401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DC7D-DACC-0B26-B66E-A706DBBB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Portfolio Stratification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31C10-D9E1-7993-F573-400D54F3D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Average Performance:</a:t>
            </a:r>
            <a:r>
              <a:rPr lang="en-US" dirty="0"/>
              <a:t> Managed 499 active loans with calculated WAC and WALA.</a:t>
            </a:r>
          </a:p>
          <a:p>
            <a:endParaRPr lang="en-US" dirty="0"/>
          </a:p>
          <a:p>
            <a:r>
              <a:rPr lang="en-US" b="1" dirty="0"/>
              <a:t>Concentration Risk:</a:t>
            </a:r>
            <a:r>
              <a:rPr lang="en-US" dirty="0"/>
              <a:t> Identified key geographic and vehicle-make clusters using </a:t>
            </a:r>
            <a:r>
              <a:rPr lang="en-US" dirty="0" err="1"/>
              <a:t>Treemaps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Asset Quality:</a:t>
            </a:r>
            <a:r>
              <a:rPr lang="en-US" dirty="0"/>
              <a:t> High concentration of Stage 1 assets (₹316M), though migration to Stage 2 is increasing.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64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51B5-8D09-8729-DEE1-F50DB2A6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IFRS 9 Expected Credit Loss (ECL)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DE7A7-65BB-F2C6-4A72-1D8FEBCA2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Stage 1 (Current):</a:t>
            </a:r>
            <a:r>
              <a:rPr lang="en-US" dirty="0"/>
              <a:t> 2% PD applied to stable assets</a:t>
            </a:r>
          </a:p>
          <a:p>
            <a:endParaRPr lang="en-US" dirty="0"/>
          </a:p>
          <a:p>
            <a:r>
              <a:rPr lang="en-US" b="1" dirty="0"/>
              <a:t>Stage 2 (30-90 DPD):</a:t>
            </a:r>
            <a:r>
              <a:rPr lang="en-US" dirty="0"/>
              <a:t> 12% PD reflecting significant increase in credit risk.</a:t>
            </a:r>
          </a:p>
          <a:p>
            <a:endParaRPr lang="en-US" dirty="0"/>
          </a:p>
          <a:p>
            <a:r>
              <a:rPr lang="en-US" b="1" dirty="0"/>
              <a:t>Stage 3 (90+ DPD):</a:t>
            </a:r>
            <a:r>
              <a:rPr lang="en-US" dirty="0"/>
              <a:t> 82% PD applied to the ₹20.88M defaulting balance.</a:t>
            </a:r>
          </a:p>
          <a:p>
            <a:endParaRPr lang="en-US" dirty="0"/>
          </a:p>
          <a:p>
            <a:r>
              <a:rPr lang="en-IN" b="1" dirty="0"/>
              <a:t>Total ECL:</a:t>
            </a:r>
            <a:r>
              <a:rPr lang="en-IN" dirty="0"/>
              <a:t> ₹23.33M.</a:t>
            </a:r>
          </a:p>
        </p:txBody>
      </p:sp>
    </p:spTree>
    <p:extLst>
      <p:ext uri="{BB962C8B-B14F-4D97-AF65-F5344CB8AC3E}">
        <p14:creationId xmlns:p14="http://schemas.microsoft.com/office/powerpoint/2010/main" val="4105397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3B6B-B5C4-8095-D83A-E5DE25EB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Delinquency Trends &amp; Roll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25030-8479-BD8A-69EC-9E9AE83DF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Current NPA Rate:</a:t>
            </a:r>
            <a:r>
              <a:rPr lang="en-IN" dirty="0"/>
              <a:t> 5.80%</a:t>
            </a:r>
          </a:p>
          <a:p>
            <a:endParaRPr lang="en-IN" dirty="0"/>
          </a:p>
          <a:p>
            <a:r>
              <a:rPr lang="en-US" b="1" dirty="0"/>
              <a:t>Cure vs. Roll:</a:t>
            </a:r>
            <a:r>
              <a:rPr lang="en-US" dirty="0"/>
              <a:t> 462 total rolls identified against 243 successful cures.</a:t>
            </a:r>
          </a:p>
          <a:p>
            <a:endParaRPr lang="en-US" dirty="0"/>
          </a:p>
          <a:p>
            <a:r>
              <a:rPr lang="en-US" b="1" dirty="0"/>
              <a:t>Trend:</a:t>
            </a:r>
            <a:r>
              <a:rPr lang="en-US" dirty="0"/>
              <a:t> Sustained upward movement in the 90+ DPD bucket indicates deteriorating asset quality.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636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36004-54A0-D1FD-F5D6-CCC04851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Capital Waterfall &amp; Structural 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C7133-4EF2-8BD5-93CA-01577E960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Trigger Level:</a:t>
            </a:r>
            <a:r>
              <a:rPr lang="en-IN" dirty="0"/>
              <a:t> 2.0%</a:t>
            </a:r>
          </a:p>
          <a:p>
            <a:endParaRPr lang="en-IN" dirty="0"/>
          </a:p>
          <a:p>
            <a:r>
              <a:rPr lang="en-IN" b="1" dirty="0"/>
              <a:t>Actual Performance:</a:t>
            </a:r>
            <a:r>
              <a:rPr lang="en-IN" dirty="0"/>
              <a:t> 5.8%</a:t>
            </a:r>
          </a:p>
          <a:p>
            <a:endParaRPr lang="en-IN" dirty="0"/>
          </a:p>
          <a:p>
            <a:r>
              <a:rPr lang="en-IN" b="1" dirty="0"/>
              <a:t>Outcome:</a:t>
            </a:r>
            <a:r>
              <a:rPr lang="en-IN" dirty="0"/>
              <a:t> </a:t>
            </a:r>
            <a:r>
              <a:rPr lang="en-IN" b="1" dirty="0"/>
              <a:t>Trigger Breach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US" b="1" dirty="0"/>
              <a:t>Waterfall Impact:</a:t>
            </a:r>
            <a:r>
              <a:rPr lang="en-US" dirty="0"/>
              <a:t> Sequential payment activated; Equity and Mezzanine payouts are frozen to protect Senior tranches.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686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56A22-A9CB-2A61-8253-78499A67B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Over-Collateralization (OC)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86CA6-0D8B-A5FB-2C63-7A2DF9A93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Calculated OC Ratio:</a:t>
            </a:r>
            <a:r>
              <a:rPr lang="en-IN" dirty="0"/>
              <a:t> 110%</a:t>
            </a:r>
          </a:p>
          <a:p>
            <a:endParaRPr lang="en-IN" dirty="0"/>
          </a:p>
          <a:p>
            <a:r>
              <a:rPr lang="en-IN" b="1" dirty="0"/>
              <a:t>Target OC Ratio:</a:t>
            </a:r>
            <a:r>
              <a:rPr lang="en-IN" dirty="0"/>
              <a:t> 120%</a:t>
            </a:r>
          </a:p>
          <a:p>
            <a:endParaRPr lang="en-IN" dirty="0"/>
          </a:p>
          <a:p>
            <a:r>
              <a:rPr lang="en-US" b="1" dirty="0"/>
              <a:t>Visual Status:</a:t>
            </a:r>
            <a:r>
              <a:rPr lang="en-US" dirty="0"/>
              <a:t> Gauge shows "Under-Target" performance, necessitating a halt in excess spread distribution.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22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FC40-20A5-D1B2-CCA0-93F5523DC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Portfolio Delinquency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3E2D4-E100-2BEC-B74C-5C044B84B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IN" dirty="0"/>
              <a:t>Metric Quantification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C25C2-6915-19EE-4247-DAF1272A0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73"/>
            <a:ext cx="5157787" cy="3684588"/>
          </a:xfrm>
        </p:spPr>
        <p:txBody>
          <a:bodyPr>
            <a:normAutofit/>
          </a:bodyPr>
          <a:lstStyle/>
          <a:p>
            <a:r>
              <a:rPr lang="en-IN" sz="2400" dirty="0"/>
              <a:t>Current 90+ DPD is </a:t>
            </a:r>
            <a:r>
              <a:rPr lang="en-IN" sz="2400" b="1" dirty="0"/>
              <a:t>5.80%</a:t>
            </a:r>
            <a:r>
              <a:rPr lang="en-IN" sz="2400" dirty="0"/>
              <a:t>.</a:t>
            </a:r>
          </a:p>
          <a:p>
            <a:endParaRPr lang="en-IN" sz="2400" dirty="0"/>
          </a:p>
          <a:p>
            <a:r>
              <a:rPr lang="en-US" sz="2400" dirty="0"/>
              <a:t>Rapid migration from Stage 2 to 3.</a:t>
            </a:r>
          </a:p>
          <a:p>
            <a:endParaRPr lang="en-US" sz="2400" dirty="0"/>
          </a:p>
          <a:p>
            <a:r>
              <a:rPr lang="en-US" sz="2400" dirty="0"/>
              <a:t>Targeted clusters show high risk.</a:t>
            </a:r>
            <a:endParaRPr lang="en-IN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F9B25-D6F7-3BFA-EF76-C253F0578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IN" dirty="0"/>
              <a:t>Statistical Observations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A9D06B-D5AD-CC53-AB21-6FC3BE439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73"/>
            <a:ext cx="5183188" cy="3684588"/>
          </a:xfrm>
        </p:spPr>
        <p:txBody>
          <a:bodyPr>
            <a:normAutofit/>
          </a:bodyPr>
          <a:lstStyle/>
          <a:p>
            <a:r>
              <a:rPr lang="en-IN" sz="2400" dirty="0"/>
              <a:t>290% variance over 2.0% limit.</a:t>
            </a:r>
          </a:p>
          <a:p>
            <a:endParaRPr lang="en-IN" sz="2400" dirty="0"/>
          </a:p>
          <a:p>
            <a:r>
              <a:rPr lang="en-US" sz="2400" dirty="0"/>
              <a:t>462 rolls vs. 243 cures.</a:t>
            </a:r>
          </a:p>
          <a:p>
            <a:endParaRPr lang="en-US" sz="2400" dirty="0"/>
          </a:p>
          <a:p>
            <a:r>
              <a:rPr lang="en-IN" sz="2400" dirty="0"/>
              <a:t>100% validated post-ETL cleaning.</a:t>
            </a:r>
          </a:p>
        </p:txBody>
      </p:sp>
    </p:spTree>
    <p:extLst>
      <p:ext uri="{BB962C8B-B14F-4D97-AF65-F5344CB8AC3E}">
        <p14:creationId xmlns:p14="http://schemas.microsoft.com/office/powerpoint/2010/main" val="161419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A9B73-60DE-A70D-0C87-59B06BA3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Loss Sensitivity &amp; Stress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1575D-DA84-4735-2A90-37DA54216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Base Case:</a:t>
            </a:r>
            <a:r>
              <a:rPr lang="en-IN" dirty="0"/>
              <a:t> ₹23M ECL</a:t>
            </a:r>
          </a:p>
          <a:p>
            <a:endParaRPr lang="en-IN" dirty="0"/>
          </a:p>
          <a:p>
            <a:r>
              <a:rPr lang="en-US" b="1" dirty="0"/>
              <a:t>Stress Case (2.0x PD):</a:t>
            </a:r>
            <a:r>
              <a:rPr lang="en-US" dirty="0"/>
              <a:t> Provisions would double to ~₹46M</a:t>
            </a:r>
          </a:p>
          <a:p>
            <a:endParaRPr lang="en-US" dirty="0"/>
          </a:p>
          <a:p>
            <a:r>
              <a:rPr lang="en-US" b="1" dirty="0"/>
              <a:t>Tranche Impact:</a:t>
            </a:r>
            <a:r>
              <a:rPr lang="en-US" dirty="0"/>
              <a:t> Severe stress wipes out the 5% Equity Tranche and impairs the Mezzanine layer.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786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439E4-60D2-5B48-6FB0-63551D9D5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Market</a:t>
            </a:r>
            <a:r>
              <a:rPr lang="fr-FR" dirty="0"/>
              <a:t> </a:t>
            </a:r>
            <a:r>
              <a:rPr lang="fr-FR" dirty="0" err="1"/>
              <a:t>Context</a:t>
            </a:r>
            <a:r>
              <a:rPr lang="fr-FR" dirty="0"/>
              <a:t> (GFC &amp; IL&amp;FS)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914C6-7F4C-400C-8E84-E2F8EFF58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Global Crisis (2008):</a:t>
            </a:r>
            <a:r>
              <a:rPr lang="en-US" dirty="0"/>
              <a:t> Lessons on how small delinquency increases can crash complex CDOs.</a:t>
            </a:r>
          </a:p>
          <a:p>
            <a:endParaRPr lang="en-US" dirty="0"/>
          </a:p>
          <a:p>
            <a:r>
              <a:rPr lang="en-US" b="1" dirty="0"/>
              <a:t>IL&amp;FS (2018):</a:t>
            </a:r>
            <a:r>
              <a:rPr lang="en-US" dirty="0"/>
              <a:t> Case study on Indian liquidity crunches and the vital role of Credit Enhancement.</a:t>
            </a:r>
          </a:p>
          <a:p>
            <a:endParaRPr lang="en-US" dirty="0"/>
          </a:p>
          <a:p>
            <a:r>
              <a:rPr lang="en-US" b="1" dirty="0"/>
              <a:t>Comparison:</a:t>
            </a:r>
            <a:r>
              <a:rPr lang="en-US" dirty="0"/>
              <a:t> 5.8% NPA mirrors high-stress periods seen in the NBFC sector.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370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8E86-2CEB-4F11-6D1B-0BBBDBE15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7BA2D-1E28-A407-4764-B78268C98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Urgent Action:</a:t>
            </a:r>
            <a:r>
              <a:rPr lang="en-US" dirty="0"/>
              <a:t> Intensify collection efforts for the ₹23M Stage 2 bucket to prevent Stage 3 migration.</a:t>
            </a:r>
          </a:p>
          <a:p>
            <a:endParaRPr lang="en-US" dirty="0"/>
          </a:p>
          <a:p>
            <a:r>
              <a:rPr lang="en-US" b="1" dirty="0"/>
              <a:t>Investor Guidance:</a:t>
            </a:r>
            <a:r>
              <a:rPr lang="en-US" dirty="0"/>
              <a:t> Maintain sequential pay until the OC Ratio returns to 120%.</a:t>
            </a:r>
          </a:p>
          <a:p>
            <a:endParaRPr lang="en-US" dirty="0"/>
          </a:p>
          <a:p>
            <a:r>
              <a:rPr lang="en-US" b="1" dirty="0"/>
              <a:t>Final Verdict:</a:t>
            </a:r>
            <a:r>
              <a:rPr lang="en-US" dirty="0"/>
              <a:t> Portfolio is distressed but manageable if structural protections are strictly enforced.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0569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534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Performance Analytics of a ₹360M Auto Loan Securitization Pool</vt:lpstr>
      <vt:lpstr>Executive Summary </vt:lpstr>
      <vt:lpstr>Data Integrity &amp; Methodology</vt:lpstr>
      <vt:lpstr>Portfolio Stratification</vt:lpstr>
      <vt:lpstr>IFRS 9 Expected Credit Loss (ECL)</vt:lpstr>
      <vt:lpstr>Delinquency Trends &amp; Roll Rates</vt:lpstr>
      <vt:lpstr>Capital Waterfall &amp; Structural Triggers</vt:lpstr>
      <vt:lpstr>Over-Collateralization (OC) Test</vt:lpstr>
      <vt:lpstr>Portfolio Delinquency Analysis</vt:lpstr>
      <vt:lpstr>Loss Sensitivity &amp; Stress Testing</vt:lpstr>
      <vt:lpstr>Market Context (GFC &amp; IL&amp;FS)</vt:lpstr>
      <vt:lpstr>Conclusion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trish miranda</dc:creator>
  <cp:lastModifiedBy>Vivek Singh</cp:lastModifiedBy>
  <cp:revision>2</cp:revision>
  <dcterms:created xsi:type="dcterms:W3CDTF">2026-04-30T06:04:55Z</dcterms:created>
  <dcterms:modified xsi:type="dcterms:W3CDTF">2026-05-21T20:07:07Z</dcterms:modified>
</cp:coreProperties>
</file>